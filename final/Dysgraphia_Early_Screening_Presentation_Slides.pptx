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D5B75"/>
                </a:solidFill>
                <a:latin typeface="Aptos"/>
              </a:rPr>
              <a:t>DATA SCIENCE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24128"/>
            <a:ext cx="5577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192D3A"/>
                </a:solidFill>
                <a:latin typeface="Aptos"/>
              </a:rPr>
              <a:t>Early Dysgraphia
Screening from
Handwriting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246120"/>
            <a:ext cx="5349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21303B"/>
                </a:solidFill>
                <a:latin typeface="Aptos"/>
              </a:rPr>
              <a:t>Using deep learning to flag children who may benefit from further dysgraphia assessment.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315968"/>
            <a:ext cx="2560320" cy="329184"/>
          </a:xfrm>
          <a:prstGeom prst="round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325112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CRISP-DM • END-TO-END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95604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E9137"/>
                </a:solidFill>
                <a:latin typeface="Aptos"/>
              </a:rPr>
              <a:t>GROUP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285232"/>
            <a:ext cx="5394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F7C"/>
                </a:solidFill>
                <a:latin typeface="Aptos"/>
              </a:rPr>
              <a:t>Samson Sheiunda  •  Lucy Wainoga  •  Emmanuel Gunga
Eric Kisu  •  Dax Kariuki  •  Ahmed Noor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1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67F0A9-6A17-9CCE-77B4-692C2D927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716024"/>
            <a:ext cx="5896574" cy="39310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11757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The problem in one view.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057400" cy="141732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27631"/>
            <a:ext cx="183794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E9137"/>
                </a:solidFill>
                <a:latin typeface="Aptos"/>
              </a:rPr>
              <a:t>5–20%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221991"/>
            <a:ext cx="176479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estimated share of school-age children showing signs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508760"/>
            <a:ext cx="2057400" cy="141732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98648" y="1563622"/>
            <a:ext cx="183794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D5B75"/>
                </a:solidFill>
                <a:latin typeface="Aptos"/>
              </a:rPr>
              <a:t>2–3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221991"/>
            <a:ext cx="176479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students in a typical 25–30 pupil classroom</a:t>
            </a:r>
          </a:p>
        </p:txBody>
      </p:sp>
      <p:pic>
        <p:nvPicPr>
          <p:cNvPr id="12" name="Picture 11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585" y="1396419"/>
            <a:ext cx="2286000" cy="19659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20840" y="1417320"/>
            <a:ext cx="2286000" cy="1965960"/>
          </a:xfrm>
          <a:prstGeom prst="rect">
            <a:avLst/>
          </a:prstGeom>
          <a:noFill/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89720" y="1417320"/>
            <a:ext cx="2423160" cy="1965960"/>
          </a:xfrm>
          <a:prstGeom prst="rect">
            <a:avLst/>
          </a:prstGeom>
          <a:noFill/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39027" y="3422034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 dirty="0">
                <a:solidFill>
                  <a:srgbClr val="5B6F7C"/>
                </a:solidFill>
                <a:latin typeface="Aptos"/>
              </a:rPr>
              <a:t>Dysgraphia handwriting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3456432"/>
            <a:ext cx="2423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5B6F7C"/>
                </a:solidFill>
                <a:latin typeface="Aptos"/>
              </a:rPr>
              <a:t>Handwriting sample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499" y="3873573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9945" y="3873138"/>
            <a:ext cx="64008" cy="150876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4183380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dirty="0">
                <a:solidFill>
                  <a:srgbClr val="192D3A"/>
                </a:solidFill>
                <a:latin typeface="Aptos"/>
              </a:rPr>
              <a:t>Hard to spot 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79" y="4521709"/>
            <a:ext cx="306324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21303B"/>
                </a:solidFill>
                <a:latin typeface="Aptos"/>
              </a:rPr>
              <a:t>Writing difficulties can be misread as carelessness or low effort.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3879669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29099" y="3873138"/>
            <a:ext cx="64008" cy="1508760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71416" y="405536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dirty="0">
                <a:solidFill>
                  <a:srgbClr val="192D3A"/>
                </a:solidFill>
                <a:latin typeface="Aptos"/>
              </a:rPr>
              <a:t>Screening is limited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7" y="4425696"/>
            <a:ext cx="306324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21303B"/>
                </a:solidFill>
                <a:latin typeface="Aptos"/>
              </a:rPr>
              <a:t>Manual identification depends on trained specialists and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3886200"/>
            <a:ext cx="37947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9944" y="3904489"/>
            <a:ext cx="64008" cy="123444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9288" y="4050791"/>
            <a:ext cx="3429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The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19288" y="4462272"/>
            <a:ext cx="34290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dirty="0">
                <a:solidFill>
                  <a:srgbClr val="21303B"/>
                </a:solidFill>
                <a:latin typeface="Aptos"/>
              </a:rPr>
              <a:t>Can one everyday scanned sample support an early, low-cost flag?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0" y="6"/>
            <a:ext cx="12" cy="0"/>
          </a:xfrm>
          <a:prstGeom prst="roundRect">
            <a:avLst/>
          </a:prstGeom>
          <a:solidFill>
            <a:srgbClr val="19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" y="5623560"/>
            <a:ext cx="10561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 dirty="0">
                <a:solidFill>
                  <a:srgbClr val="FFFFFF"/>
                </a:solidFill>
                <a:latin typeface="Aptos"/>
              </a:rPr>
              <a:t>SCREENING GOAL  →  FLAG RISK EARLY • NOT DIAGNOSE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2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CDA55EC-42AD-CA32-7E69-6291261CDF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12" b="23162"/>
          <a:stretch>
            <a:fillRect/>
          </a:stretch>
        </p:blipFill>
        <p:spPr>
          <a:xfrm>
            <a:off x="9225991" y="1438001"/>
            <a:ext cx="2423160" cy="19635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Solution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A focused screening pipeline built around the real-world use case.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911" y="2051988"/>
            <a:ext cx="94923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rgbClr val="192D3A"/>
                </a:solidFill>
                <a:latin typeface="Aptos"/>
              </a:rPr>
              <a:t>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17" y="2487168"/>
            <a:ext cx="13898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5B6F7C"/>
                </a:solidFill>
                <a:latin typeface="Aptos"/>
              </a:rPr>
              <a:t>Scan / photo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15568" y="1673352"/>
            <a:ext cx="155448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788920" y="1417320"/>
            <a:ext cx="566928" cy="566928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1888" y="2063418"/>
            <a:ext cx="106984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92D3A"/>
                </a:solidFill>
                <a:latin typeface="Aptos"/>
              </a:rPr>
              <a:t>Prepare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39" y="2510246"/>
            <a:ext cx="13898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 dirty="0">
                <a:solidFill>
                  <a:srgbClr val="5B6F7C"/>
                </a:solidFill>
                <a:latin typeface="Aptos"/>
              </a:rPr>
              <a:t>Crop • </a:t>
            </a:r>
            <a:r>
              <a:rPr sz="1150" b="0" i="0" dirty="0" err="1">
                <a:solidFill>
                  <a:srgbClr val="5B6F7C"/>
                </a:solidFill>
                <a:latin typeface="Aptos"/>
              </a:rPr>
              <a:t>deskew</a:t>
            </a:r>
            <a:r>
              <a:rPr sz="1150" b="0" i="0" dirty="0">
                <a:solidFill>
                  <a:srgbClr val="5B6F7C"/>
                </a:solidFill>
                <a:latin typeface="Aptos"/>
              </a:rPr>
              <a:t> • resize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673352"/>
            <a:ext cx="155448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74920" y="1417320"/>
            <a:ext cx="566928" cy="566928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4534" y="2084831"/>
            <a:ext cx="873034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rgbClr val="192D3A"/>
                </a:solidFill>
                <a:latin typeface="Aptos"/>
              </a:rPr>
              <a:t>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423160"/>
            <a:ext cx="13898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5B6F7C"/>
                </a:solidFill>
                <a:latin typeface="Aptos"/>
              </a:rPr>
              <a:t>MobileNetV2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1673352"/>
            <a:ext cx="155448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360920" y="1417320"/>
            <a:ext cx="566928" cy="566928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2099995"/>
            <a:ext cx="1069848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 dirty="0">
                <a:solidFill>
                  <a:srgbClr val="192D3A"/>
                </a:solidFill>
                <a:latin typeface="Aptos"/>
              </a:rPr>
              <a:t>Calibrate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423160"/>
            <a:ext cx="13898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5B6F7C"/>
                </a:solidFill>
                <a:latin typeface="Aptos"/>
              </a:rPr>
              <a:t>Decision 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73568" y="1673352"/>
            <a:ext cx="155448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46920" y="1417320"/>
            <a:ext cx="566928" cy="566928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46920" y="1527048"/>
            <a:ext cx="5669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084831"/>
            <a:ext cx="7498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92D3A"/>
                </a:solidFill>
                <a:latin typeface="Aptos"/>
              </a:rPr>
              <a:t>Flag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23160"/>
            <a:ext cx="13898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 i="0">
                <a:solidFill>
                  <a:srgbClr val="5B6F7C"/>
                </a:solidFill>
                <a:latin typeface="Aptos"/>
              </a:rPr>
              <a:t>Specialist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2461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4360" y="3246120"/>
            <a:ext cx="64008" cy="1051560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34107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MODEL-READY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" y="3822191"/>
            <a:ext cx="48006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1303B"/>
                </a:solidFill>
                <a:latin typeface="Aptos"/>
              </a:rPr>
              <a:t>Can preprocessing standardize handwriting quality?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324612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126480" y="3246120"/>
            <a:ext cx="64008" cy="1051560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27648" y="3410712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MODEL CHOICE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27648" y="3822191"/>
            <a:ext cx="48006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1303B"/>
                </a:solidFill>
                <a:latin typeface="Aptos"/>
              </a:rPr>
              <a:t>Can transfer learning beat a small CNN?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544568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94360" y="4544568"/>
            <a:ext cx="64008" cy="105156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5528" y="4709159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THRESHOLD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" y="5120640"/>
            <a:ext cx="48006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1303B"/>
                </a:solidFill>
                <a:latin typeface="Aptos"/>
              </a:rPr>
              <a:t>Can calibration balance recall and false positives?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26480" y="4544568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126480" y="4544568"/>
            <a:ext cx="64008" cy="105156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27648" y="4709159"/>
            <a:ext cx="4800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REUSE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27648" y="5120640"/>
            <a:ext cx="4800600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1303B"/>
                </a:solidFill>
                <a:latin typeface="Aptos"/>
              </a:rPr>
              <a:t>Can the final model be packaged for real-world use?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Data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What the model learned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331720" cy="141732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21122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D5B75"/>
                </a:solidFill>
                <a:latin typeface="Aptos"/>
              </a:rPr>
              <a:t>1,625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30552"/>
            <a:ext cx="203911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total handwriting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417320"/>
            <a:ext cx="2331720" cy="141732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536192"/>
            <a:ext cx="21122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E9137"/>
                </a:solidFill>
                <a:latin typeface="Aptos"/>
              </a:rPr>
              <a:t>64.5%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130552"/>
            <a:ext cx="203911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Potential Dysgraphia • 1,049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417320"/>
            <a:ext cx="2331720" cy="141732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70448" y="1536192"/>
            <a:ext cx="21122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D5B75"/>
                </a:solidFill>
                <a:latin typeface="Aptos"/>
              </a:rPr>
              <a:t>35.5%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130552"/>
            <a:ext cx="203911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Low Potential • 576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17320"/>
            <a:ext cx="2743200" cy="141732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7" y="1536192"/>
            <a:ext cx="252374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E9137"/>
                </a:solidFill>
                <a:latin typeface="Aptos"/>
              </a:rPr>
              <a:t>60 / 20 /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130552"/>
            <a:ext cx="2450592" cy="6126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train / validation /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461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PREPROCESSING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730752"/>
            <a:ext cx="1874519" cy="749808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941063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5B75"/>
                </a:solidFill>
                <a:latin typeface="Aptos"/>
              </a:rPr>
              <a:t>Grayscale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62072" y="3730752"/>
            <a:ext cx="1874519" cy="749808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2072" y="3941063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5B75"/>
                </a:solidFill>
                <a:latin typeface="Aptos"/>
              </a:rPr>
              <a:t>Crop 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4" y="3730752"/>
            <a:ext cx="1874519" cy="749808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38344" y="3941063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5B75"/>
                </a:solidFill>
                <a:latin typeface="Aptos"/>
              </a:rPr>
              <a:t>Deskew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14616" y="3730752"/>
            <a:ext cx="1874519" cy="749808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14616" y="3941063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5B75"/>
                </a:solidFill>
                <a:latin typeface="Aptos"/>
              </a:rPr>
              <a:t>256×256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90888" y="3730752"/>
            <a:ext cx="1874519" cy="749808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90888" y="3941063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0D5B75"/>
                </a:solidFill>
                <a:latin typeface="Aptos"/>
              </a:rPr>
              <a:t>Normalize 0–1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892040"/>
            <a:ext cx="10332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85800" y="4892040"/>
            <a:ext cx="64008" cy="96012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" y="5056631"/>
            <a:ext cx="9966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92D3A"/>
                </a:solidFill>
                <a:latin typeface="Aptos"/>
              </a:rPr>
              <a:t>Why recall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" y="5468112"/>
            <a:ext cx="99669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Class imbalance makes raw accuracy misleading; the project prioritised catching Potential Dysgraphia cases.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Baseline 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First question: can a lightweight model solve the task?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325880" cy="8686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256×256×1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240280"/>
            <a:ext cx="27432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103120" y="1828800"/>
            <a:ext cx="1325880" cy="8686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031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Conv 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240280"/>
            <a:ext cx="27432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03320" y="1828800"/>
            <a:ext cx="1325880" cy="8686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Conv 32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240280"/>
            <a:ext cx="27432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03520" y="1828800"/>
            <a:ext cx="1325880" cy="8686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Conv 64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2240280"/>
            <a:ext cx="27432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903720" y="1828800"/>
            <a:ext cx="1325880" cy="8686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9037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240280"/>
            <a:ext cx="27432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920" y="1828800"/>
            <a:ext cx="1325880" cy="8686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Dense 32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829800" y="2240280"/>
            <a:ext cx="274320" cy="3200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104120" y="1828800"/>
            <a:ext cx="1325880" cy="868680"/>
          </a:xfrm>
          <a:prstGeom prst="round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104120" y="2039112"/>
            <a:ext cx="1325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192D3A"/>
                </a:solidFill>
                <a:latin typeface="Aptos"/>
              </a:rPr>
              <a:t>Sigmoid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24612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0D5B75"/>
                </a:solidFill>
                <a:latin typeface="Aptos"/>
              </a:rPr>
              <a:t>25,409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7673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5B6F7C"/>
                </a:solidFill>
                <a:latin typeface="Aptos"/>
              </a:rPr>
              <a:t>trainable parameters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246120"/>
            <a:ext cx="1828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B54C46"/>
                </a:solidFill>
                <a:latin typeface="Aptos"/>
              </a:rPr>
              <a:t>0.502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7673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0" i="0">
                <a:solidFill>
                  <a:srgbClr val="5B6F7C"/>
                </a:solidFill>
                <a:latin typeface="Aptos"/>
              </a:rPr>
              <a:t>validation ROC AUC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063240"/>
            <a:ext cx="53035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9320" y="3063240"/>
            <a:ext cx="64008" cy="1508760"/>
          </a:xfrm>
          <a:prstGeom prst="rect">
            <a:avLst/>
          </a:prstGeom>
          <a:solidFill>
            <a:srgbClr val="B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0488" y="3227832"/>
            <a:ext cx="49377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0488" y="3639312"/>
            <a:ext cx="4937759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21303B"/>
                </a:solidFill>
                <a:latin typeface="Aptos"/>
              </a:rPr>
              <a:t>Performance was essentially random-chance. A richer visual representation was needed.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4892040"/>
            <a:ext cx="2743200" cy="329184"/>
          </a:xfrm>
          <a:prstGeom prst="round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4901183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PIVOT → TRANSFER LEARNING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5440680"/>
            <a:ext cx="4983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F7C"/>
                </a:solidFill>
                <a:latin typeface="Aptos"/>
              </a:rPr>
              <a:t>EarlyStopping + ReduceLROnPlateau were used to guard against overfitting.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Transfer learning: MobileNetV2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Reuse pretrained visual features, then adapt them to handwriting.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331720" cy="13258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1122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 dirty="0">
                <a:solidFill>
                  <a:srgbClr val="0D5B75"/>
                </a:solidFill>
                <a:latin typeface="Aptos"/>
              </a:rPr>
              <a:t>0.205 → 0.767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62072"/>
            <a:ext cx="203911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b="0" i="0" dirty="0">
                <a:solidFill>
                  <a:srgbClr val="21303B"/>
                </a:solidFill>
                <a:latin typeface="Aptos"/>
              </a:rPr>
              <a:t>validation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17320"/>
            <a:ext cx="2331720" cy="132588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536192"/>
            <a:ext cx="2112263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E9137"/>
                </a:solidFill>
                <a:latin typeface="Aptos"/>
              </a:rPr>
              <a:t>0.502 → 0.800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19" y="2838515"/>
            <a:ext cx="2194561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b="0" i="0" dirty="0">
                <a:solidFill>
                  <a:srgbClr val="21303B"/>
                </a:solidFill>
                <a:latin typeface="Aptos"/>
              </a:rPr>
              <a:t>validation ROC AUC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51355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74914" y="3562242"/>
            <a:ext cx="64008" cy="1417320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7561" y="3778091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dirty="0">
                <a:solidFill>
                  <a:srgbClr val="192D3A"/>
                </a:solidFill>
                <a:latin typeface="Aptos"/>
              </a:rPr>
              <a:t>STAGE 1 • FROZEN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97026"/>
            <a:ext cx="45720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21303B"/>
                </a:solidFill>
                <a:latin typeface="Aptos"/>
              </a:rPr>
              <a:t>Train the new classification head; base</a:t>
            </a:r>
            <a:r>
              <a:rPr lang="en-US" sz="1400" b="0" i="0" dirty="0">
                <a:solidFill>
                  <a:srgbClr val="21303B"/>
                </a:solidFill>
                <a:latin typeface="Aptos"/>
              </a:rPr>
              <a:t> </a:t>
            </a:r>
            <a:r>
              <a:rPr sz="1400" b="0" i="0" dirty="0">
                <a:solidFill>
                  <a:srgbClr val="21303B"/>
                </a:solidFill>
                <a:latin typeface="Aptos"/>
              </a:rPr>
              <a:t>model.</a:t>
            </a:r>
            <a:r>
              <a:rPr lang="en-US" sz="1400" b="0" i="0" dirty="0">
                <a:solidFill>
                  <a:srgbClr val="21303B"/>
                </a:solidFill>
                <a:latin typeface="Aptos"/>
              </a:rPr>
              <a:t> </a:t>
            </a:r>
            <a:r>
              <a:rPr sz="1400" b="0" i="0" dirty="0">
                <a:solidFill>
                  <a:srgbClr val="21303B"/>
                </a:solidFill>
                <a:latin typeface="Aptos"/>
              </a:rPr>
              <a:t>trainable = False; up to 20 epochs.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3562242"/>
            <a:ext cx="49377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06440" y="3551355"/>
            <a:ext cx="64008" cy="141732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58989" y="3918858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 dirty="0">
                <a:solidFill>
                  <a:srgbClr val="192D3A"/>
                </a:solidFill>
                <a:latin typeface="Aptos"/>
              </a:rPr>
              <a:t>STAGE 2 • PARTIAL UNFREEZE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439" y="4297026"/>
            <a:ext cx="45720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21303B"/>
                </a:solidFill>
                <a:latin typeface="Aptos"/>
              </a:rPr>
              <a:t>Unfreeze top 30 layers; reduce learning rate ×100; fine-tune up to 40 epochs.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5B6F7C"/>
                </a:solidFill>
                <a:latin typeface="Aptos"/>
              </a:rPr>
              <a:t>PRETRAINED IMAGE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5138928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 dirty="0">
                <a:solidFill>
                  <a:srgbClr val="0D5B75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2454" y="5209903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5B6F7C"/>
                </a:solidFill>
                <a:latin typeface="Aptos"/>
              </a:rPr>
              <a:t>HANDWRITING-SPECIFIC ADAPTATION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7789" y="5145460"/>
            <a:ext cx="457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 dirty="0">
                <a:solidFill>
                  <a:srgbClr val="0D5B75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52673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dirty="0">
                <a:solidFill>
                  <a:srgbClr val="5B6F7C"/>
                </a:solidFill>
                <a:latin typeface="Aptos"/>
              </a:rPr>
              <a:t>STRONGER SCREENING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Tune the model. Then tune the decision.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Validation recall guided model selection; Youden's J set the operating threshold.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92D3A"/>
                </a:solidFill>
                <a:latin typeface="Aptos"/>
              </a:rPr>
              <a:t>HYPERPARAMETER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303B"/>
                </a:solidFill>
                <a:latin typeface="Aptos"/>
              </a:rPr>
              <a:t>Learning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87451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0D5B75"/>
                </a:solidFill>
                <a:latin typeface="Aptos"/>
              </a:rPr>
              <a:t>1e-3 / 1e-4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303B"/>
                </a:solidFill>
                <a:latin typeface="Aptos"/>
              </a:rPr>
              <a:t>Dropout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146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0D5B75"/>
                </a:solidFill>
                <a:latin typeface="Aptos"/>
              </a:rPr>
              <a:t>0.3 / 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7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303B"/>
                </a:solidFill>
                <a:latin typeface="Aptos"/>
              </a:rPr>
              <a:t>Batch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15467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0D5B75"/>
                </a:solidFill>
                <a:latin typeface="Aptos"/>
              </a:rPr>
              <a:t>8 / 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9475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303B"/>
                </a:solidFill>
                <a:latin typeface="Aptos"/>
              </a:rPr>
              <a:t>Unfreeze depth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94759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0D5B75"/>
                </a:solidFill>
                <a:latin typeface="Aptos"/>
              </a:rPr>
              <a:t>20–50 layers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965960" cy="329184"/>
          </a:xfrm>
          <a:prstGeom prst="round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581144"/>
            <a:ext cx="1965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BEST → CANDIDATE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10912"/>
            <a:ext cx="3886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F7C"/>
                </a:solidFill>
                <a:latin typeface="Aptos"/>
              </a:rPr>
              <a:t>Chosen by validation recall, with F1 as tie-break.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" y="1"/>
            <a:ext cx="0" cy="4"/>
          </a:xfrm>
          <a:prstGeom prst="rect">
            <a:avLst/>
          </a:prstGeom>
          <a:solidFill>
            <a:srgbClr val="D2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4173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92D3A"/>
                </a:solidFill>
                <a:latin typeface="Aptos"/>
              </a:rPr>
              <a:t>CALIBRATION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874519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1303B"/>
                </a:solidFill>
                <a:latin typeface="Aptos"/>
              </a:rPr>
              <a:t>Recall-first training over-flagged nearly 99% of samples.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788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0D5B75"/>
                </a:solidFill>
                <a:latin typeface="Aptos"/>
              </a:rPr>
              <a:t>Youden's J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788920"/>
            <a:ext cx="1463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EE9137"/>
                </a:solidFill>
                <a:latin typeface="Aptos"/>
              </a:rPr>
              <a:t>TPR − FPR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65760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B6F7C"/>
                </a:solidFill>
                <a:latin typeface="Aptos"/>
              </a:rPr>
              <a:t>Final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401568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0D5B75"/>
                </a:solidFill>
                <a:latin typeface="Aptos"/>
              </a:rPr>
              <a:t>0.549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33087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5B6F7C"/>
                </a:solidFill>
                <a:latin typeface="Aptos"/>
              </a:rPr>
              <a:t>vs. naive 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What changed?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Transfer learning moved the model from chance-level performance to a useful validation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ROC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303B"/>
                </a:solidFill>
                <a:latin typeface="Aptos"/>
              </a:rPr>
              <a:t>Baseline CNN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2075688"/>
            <a:ext cx="3396813" cy="384048"/>
          </a:xfrm>
          <a:prstGeom prst="rect">
            <a:avLst/>
          </a:prstGeom>
          <a:solidFill>
            <a:srgbClr val="B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51484" y="203911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B54C46"/>
                </a:solidFill>
                <a:latin typeface="Aptos"/>
              </a:rPr>
              <a:t>0.502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089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1303B"/>
                </a:solidFill>
                <a:latin typeface="Aptos"/>
              </a:rPr>
              <a:t>MobileNetV2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31720" y="3127248"/>
            <a:ext cx="5413248" cy="384048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81544" y="309067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D5B75"/>
                </a:solidFill>
                <a:latin typeface="Aptos"/>
              </a:rPr>
              <a:t>0.800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2519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92D3A"/>
                </a:solidFill>
                <a:latin typeface="Aptos"/>
              </a:rPr>
              <a:t>Validation recall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006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1303B"/>
                </a:solidFill>
                <a:latin typeface="Aptos"/>
              </a:rPr>
              <a:t>Baseline CNN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4818888"/>
            <a:ext cx="1387144" cy="310896"/>
          </a:xfrm>
          <a:prstGeom prst="rect">
            <a:avLst/>
          </a:prstGeom>
          <a:solidFill>
            <a:srgbClr val="B54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28237" y="476402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B54C46"/>
                </a:solidFill>
                <a:latin typeface="Aptos"/>
              </a:rPr>
              <a:t>0.205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44068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21303B"/>
                </a:solidFill>
                <a:latin typeface="Aptos"/>
              </a:rPr>
              <a:t>MobileNetV2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5458968"/>
            <a:ext cx="5189951" cy="310896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56738" y="5404104"/>
            <a:ext cx="731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D5B75"/>
                </a:solidFill>
                <a:latin typeface="Aptos"/>
              </a:rPr>
              <a:t>0.767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508760"/>
            <a:ext cx="22860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06840" y="1508760"/>
            <a:ext cx="64008" cy="429768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08008" y="1673351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92D3A"/>
                </a:solidFill>
                <a:latin typeface="Aptos"/>
              </a:rPr>
              <a:t>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084831"/>
            <a:ext cx="1920240" cy="3584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21303B"/>
                </a:solidFill>
                <a:latin typeface="Aptos"/>
              </a:rPr>
              <a:t>Pretrained visual features captured patterns the small CNN could not learn from this dataset.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Final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One honest test: the untouched 20% test split (325 images).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2377440" cy="146304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81912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D5B75"/>
                </a:solidFill>
                <a:latin typeface="Aptos"/>
              </a:rPr>
              <a:t>0.797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76272"/>
            <a:ext cx="2084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test ROC 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463040"/>
            <a:ext cx="2377440" cy="146304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55848" y="1581912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E9137"/>
                </a:solidFill>
                <a:latin typeface="Aptos"/>
              </a:rPr>
              <a:t>79%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2176272"/>
            <a:ext cx="2084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at-risk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463040"/>
            <a:ext cx="2377440" cy="146304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1581912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0D5B75"/>
                </a:solidFill>
                <a:latin typeface="Aptos"/>
              </a:rPr>
              <a:t>84%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176272"/>
            <a:ext cx="2084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463040"/>
            <a:ext cx="2377440" cy="1463040"/>
          </a:xfrm>
          <a:prstGeom prst="roundRect">
            <a:avLst/>
          </a:prstGeom>
          <a:solidFill>
            <a:srgbClr val="E7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1581912"/>
            <a:ext cx="2157984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EE9137"/>
                </a:solidFill>
                <a:latin typeface="Aptos"/>
              </a:rPr>
              <a:t>73%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04504" y="2176272"/>
            <a:ext cx="208483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 i="0">
                <a:solidFill>
                  <a:srgbClr val="21303B"/>
                </a:solidFill>
                <a:latin typeface="Aptos"/>
              </a:rPr>
              <a:t>healthy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29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92D3A"/>
                </a:solidFill>
                <a:latin typeface="Aptos"/>
              </a:rPr>
              <a:t>WHAT THAT MEANS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886200"/>
            <a:ext cx="64008" cy="1234440"/>
          </a:xfrm>
          <a:prstGeom prst="rect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405079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≈ 4 in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462272"/>
            <a:ext cx="29718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Potential Dysgraphia cases were caught on unseen data.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886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51960" y="3886200"/>
            <a:ext cx="64008" cy="123444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53128" y="405079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≈ 3 in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4462272"/>
            <a:ext cx="29718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Low Potential cases were correctly cleared.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388620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818120" y="3886200"/>
            <a:ext cx="64008" cy="1234440"/>
          </a:xfrm>
          <a:prstGeom prst="rect">
            <a:avLst/>
          </a:prstGeom>
          <a:solidFill>
            <a:srgbClr val="19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19288" y="4050791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Balanced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4462272"/>
            <a:ext cx="297180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Useful as screening support — not an automated diagnosis.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What would make the screening tool more trustworthy and useful?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373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E9137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9163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Interpretability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67128"/>
            <a:ext cx="3794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1303B"/>
                </a:solidFill>
                <a:latin typeface="Aptos"/>
              </a:rPr>
              <a:t>Run Grad-CAM++ to check what visual regions drive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173736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E9137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91639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More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167128"/>
            <a:ext cx="3794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1303B"/>
                </a:solidFill>
                <a:latin typeface="Aptos"/>
              </a:rPr>
              <a:t>Grow beyond 1,625 images to improve generalisation.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E9137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404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Real-world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315968"/>
            <a:ext cx="3794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1303B"/>
                </a:solidFill>
                <a:latin typeface="Aptos"/>
              </a:rPr>
              <a:t>Test in classrooms and collect teacher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657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2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2" y="3886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EE9137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84048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192D3A"/>
                </a:solidFill>
                <a:latin typeface="Aptos"/>
              </a:rPr>
              <a:t>Severity scoring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315968"/>
            <a:ext cx="37947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21303B"/>
                </a:solidFill>
                <a:latin typeface="Aptos"/>
              </a:rPr>
              <a:t>Explore multi-class severity instead of one binary flag.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192D3A"/>
                </a:solidFill>
                <a:latin typeface="Aptos"/>
              </a:rPr>
              <a:t>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B6F7C"/>
                </a:solidFill>
                <a:latin typeface="Aptos"/>
              </a:rPr>
              <a:t>Responsible deployment matters as much as model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0" cy="0"/>
          </a:xfrm>
          <a:prstGeom prst="rect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" y="1444752"/>
            <a:ext cx="320040" cy="320040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72184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41732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Use as a lightweight screening add-on — not a standalone system.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066543"/>
            <a:ext cx="320040" cy="320040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93976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039112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Keep a human specialist in the decision loop.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688336"/>
            <a:ext cx="320040" cy="320040"/>
          </a:xfrm>
          <a:prstGeom prst="ellipse">
            <a:avLst/>
          </a:prstGeom>
          <a:solidFill>
            <a:srgbClr val="0D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71576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660904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Validate flagged cases with occupational therapists / specialists.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310127"/>
            <a:ext cx="320040" cy="320040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337560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282696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Re-calibrate as more labelled data becomes available.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931920"/>
            <a:ext cx="320040" cy="320040"/>
          </a:xfrm>
          <a:prstGeom prst="ellipse">
            <a:avLst/>
          </a:prstGeom>
          <a:solidFill>
            <a:srgbClr val="EE9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959352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904488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1303B"/>
                </a:solidFill>
                <a:latin typeface="Aptos"/>
              </a:rPr>
              <a:t>Monitor demographic and handwriting-style bias.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1417320"/>
            <a:ext cx="4160520" cy="4389120"/>
          </a:xfrm>
          <a:prstGeom prst="roundRect">
            <a:avLst/>
          </a:prstGeom>
          <a:solidFill>
            <a:srgbClr val="19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60920" y="178308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EE9137"/>
                </a:solidFill>
                <a:latin typeface="Aptos"/>
              </a:rPr>
              <a:t>THE BOTTOM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423160"/>
            <a:ext cx="3474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ptos"/>
              </a:rPr>
              <a:t>0.502 → 0.797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3108960"/>
            <a:ext cx="32918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Aptos"/>
              </a:rPr>
              <a:t>Baseline CNN → calibrated MobileNetV2
(test ROC AUC)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4251960"/>
            <a:ext cx="3337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ptos"/>
              </a:rPr>
              <a:t>A first-pass screening tool can flag risk early — while human judgement remains central.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54480"/>
            <a:ext cx="5029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192D3A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3317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>
                <a:solidFill>
                  <a:srgbClr val="0D5B75"/>
                </a:solidFill>
                <a:latin typeface="Aptos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5468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1303B"/>
                </a:solidFill>
                <a:latin typeface="Aptos"/>
              </a:rPr>
              <a:t>Early Dysgraphia Screening from Handwriting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7947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E9137"/>
                </a:solidFill>
                <a:latin typeface="Aptos"/>
              </a:rPr>
              <a:t>GROUP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160520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B6F7C"/>
                </a:solidFill>
                <a:latin typeface="Aptos"/>
              </a:rPr>
              <a:t>Samson Sheiunda  •  Lucy Wainoga  •  Emmanuel Gunga
Eric Kisu  •  Dax Kariuki  •  Ahmed Noor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66928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B6F7C"/>
                </a:solidFill>
                <a:latin typeface="Aptos"/>
              </a:rPr>
              <a:t>Screening support — not diagnosis.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28816"/>
            <a:ext cx="47548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 i="0">
                <a:solidFill>
                  <a:srgbClr val="5B6F7C"/>
                </a:solidFill>
                <a:latin typeface="Aptos"/>
              </a:rPr>
              <a:t>Early Dysgraphia Screening  •  CRISP-DM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5B6F7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855</Words>
  <Application>Microsoft Office PowerPoint</Application>
  <PresentationFormat>Widescreen</PresentationFormat>
  <Paragraphs>207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Lucy Wainoga</dc:creator>
  <cp:keywords/>
  <dc:description>generated using python-pptx</dc:description>
  <cp:lastModifiedBy>Lucy Wainoga</cp:lastModifiedBy>
  <cp:revision>3</cp:revision>
  <dcterms:created xsi:type="dcterms:W3CDTF">2013-01-27T09:14:16Z</dcterms:created>
  <dcterms:modified xsi:type="dcterms:W3CDTF">2026-09-14T18:23:29Z</dcterms:modified>
  <cp:category/>
</cp:coreProperties>
</file>