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 AUC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C2B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Baseline CNN</c:v>
                </c:pt>
                <c:pt idx="1">
                  <c:v>MobileNetV2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0.502</c:v>
                </c:pt>
                <c:pt idx="1">
                  <c:v>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9B-440E-AD6F-E6E4137E7A3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 (Potential Dysgraphia)</c:v>
                </c:pt>
              </c:strCache>
            </c:strRef>
          </c:tx>
          <c:spPr>
            <a:solidFill>
              <a:srgbClr val="F4A261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C2B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Baseline CNN</c:v>
                </c:pt>
                <c:pt idx="1">
                  <c:v>MobileNetV2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0.20499999999999999</c:v>
                </c:pt>
                <c:pt idx="1">
                  <c:v>0.76700000000000002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C9B-440E-AD6F-E6E4137E7A3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C2B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8EC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C7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C2B3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3T21:22:20.0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3T21:22:21.2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8435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5" Type="http://schemas.openxmlformats.org/officeDocument/2006/relationships/image" Target="../media/image2.png"/><Relationship Id="rId4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4F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06768" y="0"/>
            <a:ext cx="5285232" cy="6858000"/>
          </a:xfrm>
          <a:prstGeom prst="rect">
            <a:avLst/>
          </a:prstGeom>
          <a:solidFill>
            <a:srgbClr val="083A5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7315200" y="36576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91440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CAPSTONE PROJECT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1371600"/>
            <a:ext cx="5943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Dysgraphia Screening</a:t>
            </a:r>
            <a:endParaRPr lang="en-US" sz="3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Handwriting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640080" y="32461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CRISP-DM capstone journey — from the problem to a deployable screening model.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5349240"/>
            <a:ext cx="45720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5532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8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585216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Capstone Project</a:t>
            </a:r>
            <a:endParaRPr lang="en-US" sz="11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144CDF6-CD00-0E98-8E26-8D652C149D61}"/>
              </a:ext>
            </a:extLst>
          </p:cNvPr>
          <p:cNvSpPr/>
          <p:nvPr/>
        </p:nvSpPr>
        <p:spPr>
          <a:xfrm>
            <a:off x="7315200" y="1905000"/>
            <a:ext cx="4587240" cy="304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481A98B-0643-0C7B-A0DB-FDB4117DCD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2820" y="1905000"/>
            <a:ext cx="4572000" cy="304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5FA8B163-4B64-C8FC-E166-6D35E1B944CE}"/>
                  </a:ext>
                </a:extLst>
              </p14:cNvPr>
              <p14:cNvContentPartPr/>
              <p14:nvPr/>
            </p14:nvContentPartPr>
            <p14:xfrm>
              <a:off x="8412360" y="3017480"/>
              <a:ext cx="360" cy="3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5FA8B163-4B64-C8FC-E166-6D35E1B944C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406240" y="301136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94476B0-26D1-E464-F930-4EBC7D091673}"/>
                  </a:ext>
                </a:extLst>
              </p14:cNvPr>
              <p14:cNvContentPartPr/>
              <p14:nvPr/>
            </p14:nvContentPartPr>
            <p14:xfrm>
              <a:off x="9661920" y="2651720"/>
              <a:ext cx="360" cy="3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94476B0-26D1-E464-F930-4EBC7D09167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655800" y="264560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F8D42452-93A5-D945-7102-A5297985EB65}"/>
              </a:ext>
            </a:extLst>
          </p:cNvPr>
          <p:cNvSpPr txBox="1"/>
          <p:nvPr/>
        </p:nvSpPr>
        <p:spPr>
          <a:xfrm>
            <a:off x="7315200" y="5187434"/>
            <a:ext cx="4465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A child struggling writing in a classroom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the stage for the project.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1247120" cy="4343400"/>
          </a:xfrm>
          <a:prstGeom prst="roundRect">
            <a:avLst>
              <a:gd name="adj" fmla="val 1684"/>
            </a:avLst>
          </a:prstGeom>
          <a:solidFill>
            <a:srgbClr val="F7FA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48840"/>
            <a:ext cx="128016" cy="128016"/>
          </a:xfrm>
          <a:prstGeom prst="rect">
            <a:avLst/>
          </a:prstGeom>
          <a:ln w="15875">
            <a:solidFill>
              <a:srgbClr val="0B4F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048256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Handwriting is one of the first academic skills every child is expected to master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128016" cy="128016"/>
          </a:xfrm>
          <a:prstGeom prst="rect">
            <a:avLst/>
          </a:prstGeom>
          <a:ln w="15875">
            <a:solidFill>
              <a:srgbClr val="0B4F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825496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Dysgraphia — a motor and coordination-based writing difficulty — is common, but frequently overlooked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3703320"/>
            <a:ext cx="128016" cy="128016"/>
          </a:xfrm>
          <a:prstGeom prst="rect">
            <a:avLst/>
          </a:prstGeom>
          <a:ln w="15875">
            <a:solidFill>
              <a:srgbClr val="0B4F6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602736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asks a simple question: can a single scanned handwriting sample support early, low-cost screening?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4480560"/>
            <a:ext cx="128016" cy="128016"/>
          </a:xfrm>
          <a:prstGeom prst="rect">
            <a:avLst/>
          </a:prstGeom>
          <a:ln w="15875">
            <a:solidFill>
              <a:srgbClr val="0B4F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4379976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end-to-end using the CRISP-DM framework — from business problem to a calibrated, testable model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5257800"/>
            <a:ext cx="128016" cy="128016"/>
          </a:xfrm>
          <a:prstGeom prst="rect">
            <a:avLst/>
          </a:prstGeom>
          <a:ln w="15875">
            <a:solidFill>
              <a:srgbClr val="0B4F6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5157216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is a first-pass screening tool, not a diagnostic instrument — designed to flag, not to replace, a specialist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Dysgraphia Screening  •  CRISP-DM Walkthrough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Team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behind this project.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2194560"/>
            <a:ext cx="1709928" cy="2834640"/>
          </a:xfrm>
          <a:prstGeom prst="roundRect">
            <a:avLst>
              <a:gd name="adj" fmla="val 4813"/>
            </a:avLst>
          </a:prstGeom>
          <a:solidFill>
            <a:srgbClr val="F7FAFC"/>
          </a:solidFill>
          <a:ln w="12700">
            <a:solidFill>
              <a:srgbClr val="DCE6E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992124" y="25603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icons2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934" y="2637130"/>
            <a:ext cx="486461" cy="4864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474720"/>
            <a:ext cx="152704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Samson </a:t>
            </a:r>
            <a:r>
              <a:rPr lang="en-US" sz="1100" b="1" dirty="0" err="1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Sheiunda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4251960"/>
            <a:ext cx="1527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350008" y="2194560"/>
            <a:ext cx="1709928" cy="2834640"/>
          </a:xfrm>
          <a:prstGeom prst="roundRect">
            <a:avLst>
              <a:gd name="adj" fmla="val 4813"/>
            </a:avLst>
          </a:prstGeom>
          <a:solidFill>
            <a:srgbClr val="F7FAFC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884932" y="2560320"/>
            <a:ext cx="640080" cy="64008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11" name="Image 1" descr="/home/claude/icons2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1742" y="2637130"/>
            <a:ext cx="486461" cy="4864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441448" y="3474720"/>
            <a:ext cx="152704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Lucy Wainoga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2441448" y="4251960"/>
            <a:ext cx="1527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242816" y="2194560"/>
            <a:ext cx="1709928" cy="2834640"/>
          </a:xfrm>
          <a:prstGeom prst="roundRect">
            <a:avLst>
              <a:gd name="adj" fmla="val 4813"/>
            </a:avLst>
          </a:prstGeom>
          <a:solidFill>
            <a:srgbClr val="F7FAFC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777740" y="25603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/home/claude/icons2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4550" y="2637130"/>
            <a:ext cx="486461" cy="48646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334256" y="3474720"/>
            <a:ext cx="152704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Emmanuel Gunga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4334256" y="4251960"/>
            <a:ext cx="1527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135624" y="2194560"/>
            <a:ext cx="1709928" cy="2834640"/>
          </a:xfrm>
          <a:prstGeom prst="roundRect">
            <a:avLst>
              <a:gd name="adj" fmla="val 4813"/>
            </a:avLst>
          </a:prstGeom>
          <a:solidFill>
            <a:srgbClr val="F7FAFC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670548" y="2560320"/>
            <a:ext cx="640080" cy="64008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21" name="Image 3" descr="/home/claude/icons2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7358" y="2637130"/>
            <a:ext cx="486461" cy="4864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27064" y="3474720"/>
            <a:ext cx="152704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 Kisu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6227064" y="4251960"/>
            <a:ext cx="1527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028432" y="2194560"/>
            <a:ext cx="1709928" cy="2834640"/>
          </a:xfrm>
          <a:prstGeom prst="roundRect">
            <a:avLst>
              <a:gd name="adj" fmla="val 4813"/>
            </a:avLst>
          </a:prstGeom>
          <a:solidFill>
            <a:srgbClr val="F7FAFC"/>
          </a:solidFill>
          <a:ln w="12700">
            <a:solidFill>
              <a:srgbClr val="DCE6E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Shape 19"/>
          <p:cNvSpPr/>
          <p:nvPr/>
        </p:nvSpPr>
        <p:spPr>
          <a:xfrm>
            <a:off x="8563356" y="25603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/home/claude/icons2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166" y="2637130"/>
            <a:ext cx="486461" cy="48646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119872" y="3474720"/>
            <a:ext cx="152704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Kariuki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8119872" y="4251960"/>
            <a:ext cx="1527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9921240" y="2194560"/>
            <a:ext cx="1709928" cy="2834640"/>
          </a:xfrm>
          <a:prstGeom prst="roundRect">
            <a:avLst>
              <a:gd name="adj" fmla="val 4813"/>
            </a:avLst>
          </a:prstGeom>
          <a:solidFill>
            <a:srgbClr val="F7FAFC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10456164" y="2560320"/>
            <a:ext cx="640080" cy="64008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31" name="Image 5" descr="/home/claude/icons2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2974" y="2637130"/>
            <a:ext cx="486461" cy="48646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0012680" y="3474720"/>
            <a:ext cx="152704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Noor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10012680" y="4251960"/>
            <a:ext cx="1527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Dysgraphia Screening  •  CRISP-DM Walkthrough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that motivated this project.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128016" cy="128016"/>
          </a:xfrm>
          <a:prstGeom prst="rect">
            <a:avLst/>
          </a:prstGeom>
          <a:ln w="15875">
            <a:solidFill>
              <a:srgbClr val="0B4F6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728216"/>
            <a:ext cx="49377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5–20% of school-age children show signs of dysgraphia, according to published estimates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578608"/>
            <a:ext cx="128016" cy="128016"/>
          </a:xfrm>
          <a:prstGeom prst="rect">
            <a:avLst/>
          </a:prstGeom>
          <a:ln w="15875">
            <a:solidFill>
              <a:srgbClr val="0B4F6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478024"/>
            <a:ext cx="49377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roughly 2–3 students in every classroom of 25–30, every year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3328416"/>
            <a:ext cx="128016" cy="128016"/>
          </a:xfrm>
          <a:prstGeom prst="rect">
            <a:avLst/>
          </a:prstGeom>
          <a:ln w="15875">
            <a:solidFill>
              <a:srgbClr val="0B4F6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3227832"/>
            <a:ext cx="49377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identification requires a trained specialist evaluating handwriting samples by hand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4078224"/>
            <a:ext cx="128016" cy="128016"/>
          </a:xfrm>
          <a:prstGeom prst="rect">
            <a:avLst/>
          </a:prstGeom>
          <a:ln w="15875">
            <a:solidFill>
              <a:srgbClr val="0B4F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977640"/>
            <a:ext cx="49377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screening is slow, subjective, and simply unavailable in many schools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4828032"/>
            <a:ext cx="128016" cy="128016"/>
          </a:xfrm>
          <a:prstGeom prst="rect">
            <a:avLst/>
          </a:prstGeom>
          <a:ln w="15875">
            <a:solidFill>
              <a:srgbClr val="0B4F6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4727448"/>
            <a:ext cx="49377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unaddressed, dysgraphia is easy to misread as carelessness or low effort — and delay isn't neutral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562356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0B4F6C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562356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question: can an everyday scanned sample flag a child before a specialist referral even begins?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Dysgraphia Screening  •  CRISP-DM Walkthrough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18" name="Picture 17" descr="WhatsApp_Image_2026-09-08_at_10_11_35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8143" y="1513332"/>
            <a:ext cx="2648360" cy="169164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9E73DA3-3FF4-92C1-D2EF-EE0B101E46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8206" y="1508760"/>
            <a:ext cx="2620434" cy="350661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4FFD9F0-ADAF-4A40-8EFF-C6B6F7838799}"/>
              </a:ext>
            </a:extLst>
          </p:cNvPr>
          <p:cNvSpPr txBox="1"/>
          <p:nvPr/>
        </p:nvSpPr>
        <p:spPr>
          <a:xfrm>
            <a:off x="6258143" y="3431032"/>
            <a:ext cx="2526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Dysgraphia handwriting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B7B5763-44E6-EAE5-9B91-6FCD5FECD16D}"/>
              </a:ext>
            </a:extLst>
          </p:cNvPr>
          <p:cNvSpPr txBox="1"/>
          <p:nvPr/>
        </p:nvSpPr>
        <p:spPr>
          <a:xfrm>
            <a:off x="9358206" y="5102352"/>
            <a:ext cx="2093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Normal Handwriting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built to close that gap.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128016" cy="128016"/>
          </a:xfrm>
          <a:prstGeom prst="rect">
            <a:avLst/>
          </a:prstGeom>
          <a:ln w="15875">
            <a:solidFill>
              <a:srgbClr val="0B4F6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728216"/>
            <a:ext cx="102412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image-based screening pipeline, built end-to-end on the CRISP-DM framework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578608"/>
            <a:ext cx="128016" cy="128016"/>
          </a:xfrm>
          <a:prstGeom prst="rect">
            <a:avLst/>
          </a:prstGeom>
          <a:ln w="15875">
            <a:solidFill>
              <a:srgbClr val="0B4F6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478024"/>
            <a:ext cx="102412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preprocessing standardizes any scanned or photographed handwriting sample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3328416"/>
            <a:ext cx="128016" cy="128016"/>
          </a:xfrm>
          <a:prstGeom prst="rect">
            <a:avLst/>
          </a:prstGeom>
          <a:ln w="15875">
            <a:solidFill>
              <a:srgbClr val="0B4F6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3227832"/>
            <a:ext cx="102412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calibrated deep-learning model returns a risk score — never a diagnosis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4078224"/>
            <a:ext cx="128016" cy="128016"/>
          </a:xfrm>
          <a:prstGeom prst="rect">
            <a:avLst/>
          </a:prstGeom>
          <a:ln w="15875">
            <a:solidFill>
              <a:srgbClr val="0B4F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977640"/>
            <a:ext cx="102412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flag, not decide — a human specialist always makes the final call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4828032"/>
            <a:ext cx="128016" cy="128016"/>
          </a:xfrm>
          <a:prstGeom prst="rect">
            <a:avLst/>
          </a:prstGeom>
          <a:ln w="15875">
            <a:solidFill>
              <a:srgbClr val="0B4F6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4727448"/>
            <a:ext cx="102412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with equipment most classrooms already have: a scanner, camera, or tablet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Dysgraphia Screening  •  CRISP-DM Walkthrough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questions this project set out to answer.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128016" cy="128016"/>
          </a:xfrm>
          <a:prstGeom prst="rect">
            <a:avLst/>
          </a:prstGeom>
          <a:ln w="15875">
            <a:solidFill>
              <a:srgbClr val="0B4F6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728216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standardized preprocessing pipeline make handwriting samples model-ready, regardless of scan quality?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743200"/>
            <a:ext cx="128016" cy="128016"/>
          </a:xfrm>
          <a:prstGeom prst="rect">
            <a:avLst/>
          </a:prstGeom>
          <a:ln w="15875">
            <a:solidFill>
              <a:srgbClr val="0B4F6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642616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transfer learning outperform a from-scratch CNN on a small, 1,625-image dataset?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3657600"/>
            <a:ext cx="128016" cy="128016"/>
          </a:xfrm>
          <a:prstGeom prst="rect">
            <a:avLst/>
          </a:prstGeom>
          <a:ln w="15875">
            <a:solidFill>
              <a:srgbClr val="0B4F6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3557016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threshold calibration produce a screening tool that's balanced — catching at-risk students without over-flagging healthy ones?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4572000"/>
            <a:ext cx="128016" cy="128016"/>
          </a:xfrm>
          <a:prstGeom prst="rect">
            <a:avLst/>
          </a:prstGeom>
          <a:ln w="15875">
            <a:solidFill>
              <a:srgbClr val="0B4F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4471416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final model be packaged for real-world reuse without retraining from scratch?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Dysgraphia Screening  •  CRISP-DM Walkthrough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Understanding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dataset looks like, and how it's made model-ready.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440680" cy="4343400"/>
          </a:xfrm>
          <a:prstGeom prst="roundRect">
            <a:avLst>
              <a:gd name="adj" fmla="val 1684"/>
            </a:avLst>
          </a:prstGeom>
          <a:solidFill>
            <a:srgbClr val="F7FAF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745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Snapshot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377440"/>
            <a:ext cx="128016" cy="128016"/>
          </a:xfrm>
          <a:prstGeom prst="rect">
            <a:avLst/>
          </a:prstGeom>
          <a:ln w="15875">
            <a:solidFill>
              <a:srgbClr val="0B4F6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276856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1,625 total handwriting images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77240" y="3246120"/>
            <a:ext cx="128016" cy="128016"/>
          </a:xfrm>
          <a:prstGeom prst="rect">
            <a:avLst/>
          </a:prstGeom>
          <a:ln w="15875">
            <a:solidFill>
              <a:srgbClr val="0B4F6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3145536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64.5% Potential Dysgraphia (1,049) / 35.5% Low Potential (576)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4114800"/>
            <a:ext cx="128016" cy="128016"/>
          </a:xfrm>
          <a:prstGeom prst="rect">
            <a:avLst/>
          </a:prstGeom>
          <a:ln w="15875">
            <a:solidFill>
              <a:srgbClr val="0B4F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4014216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60 / 20 / 20 train / validation / test split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7240" y="4983480"/>
            <a:ext cx="128016" cy="128016"/>
          </a:xfrm>
          <a:prstGeom prst="rect">
            <a:avLst/>
          </a:prstGeom>
          <a:ln w="15875">
            <a:solidFill>
              <a:srgbClr val="0B4F6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4882896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means raw accuracy would be misleading — recall is the metric that matters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1691640"/>
            <a:ext cx="5440680" cy="4343400"/>
          </a:xfrm>
          <a:prstGeom prst="roundRect">
            <a:avLst>
              <a:gd name="adj" fmla="val 1684"/>
            </a:avLst>
          </a:prstGeom>
          <a:solidFill>
            <a:srgbClr val="0B4F6C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18745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Scans Model-Ready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583680" y="2377440"/>
            <a:ext cx="128016" cy="128016"/>
          </a:xfrm>
          <a:prstGeom prst="rect">
            <a:avLst/>
          </a:prstGeom>
          <a:ln w="15875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2276856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standardization for every image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0" y="3063240"/>
            <a:ext cx="128016" cy="128016"/>
          </a:xfrm>
          <a:prstGeom prst="rect">
            <a:avLst/>
          </a:prstGeom>
          <a:ln w="15875">
            <a:solidFill>
              <a:srgbClr val="F4A2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2962656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border cropping around the ink content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83680" y="3749040"/>
            <a:ext cx="128016" cy="128016"/>
          </a:xfrm>
          <a:prstGeom prst="rect">
            <a:avLst/>
          </a:prstGeom>
          <a:ln w="15875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3648456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deskewing to straighten rotated scans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83680" y="4434840"/>
            <a:ext cx="128016" cy="128016"/>
          </a:xfrm>
          <a:prstGeom prst="rect">
            <a:avLst/>
          </a:prstGeom>
          <a:ln w="15875">
            <a:solidFill>
              <a:srgbClr val="F4A2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4334256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&amp; pad to 256×256, preserving aspect ratio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83680" y="5120640"/>
            <a:ext cx="128016" cy="128016"/>
          </a:xfrm>
          <a:prstGeom prst="rect">
            <a:avLst/>
          </a:prstGeom>
          <a:ln w="15875">
            <a:solidFill>
              <a:srgbClr val="F4A2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0" y="5020056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normalization to a 0–1 range; training-only augmentation for rotation, zoom, and brightness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Dysgraphia Screening  •  CRISP-DM Walkthrough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 — The Baseline CNN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lightweight, from-scratch CNN built to answer one question: can a simple model solve this at all?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1481328" cy="1005840"/>
          </a:xfrm>
          <a:prstGeom prst="roundRect">
            <a:avLst>
              <a:gd name="adj" fmla="val 6364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783080"/>
            <a:ext cx="13898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256×256×1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066544" y="1783080"/>
            <a:ext cx="1481328" cy="1005840"/>
          </a:xfrm>
          <a:prstGeom prst="roundRect">
            <a:avLst>
              <a:gd name="adj" fmla="val 6364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2112264" y="1783080"/>
            <a:ext cx="13898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 16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MaxPool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75888" y="1783080"/>
            <a:ext cx="1481328" cy="1005840"/>
          </a:xfrm>
          <a:prstGeom prst="roundRect">
            <a:avLst>
              <a:gd name="adj" fmla="val 6364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3721608" y="1783080"/>
            <a:ext cx="13898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 32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MaxPool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285232" y="1783080"/>
            <a:ext cx="1481328" cy="1005840"/>
          </a:xfrm>
          <a:prstGeom prst="roundRect">
            <a:avLst>
              <a:gd name="adj" fmla="val 6364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5330952" y="1783080"/>
            <a:ext cx="13898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 64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MaxPool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94576" y="1783080"/>
            <a:ext cx="1481328" cy="1005840"/>
          </a:xfrm>
          <a:prstGeom prst="roundRect">
            <a:avLst>
              <a:gd name="adj" fmla="val 6364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940296" y="1783080"/>
            <a:ext cx="13898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GlobalAvgPool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503920" y="1783080"/>
            <a:ext cx="1481328" cy="1005840"/>
          </a:xfrm>
          <a:prstGeom prst="roundRect">
            <a:avLst>
              <a:gd name="adj" fmla="val 6364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8549640" y="1783080"/>
            <a:ext cx="13898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32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Dropout 0.4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0113264" y="1783080"/>
            <a:ext cx="1481328" cy="1005840"/>
          </a:xfrm>
          <a:prstGeom prst="roundRect">
            <a:avLst>
              <a:gd name="adj" fmla="val 6364"/>
            </a:avLst>
          </a:prstGeom>
          <a:solidFill>
            <a:srgbClr val="F4A261"/>
          </a:solidFill>
          <a:ln/>
        </p:spPr>
      </p:sp>
      <p:sp>
        <p:nvSpPr>
          <p:cNvPr id="17" name="Text 15"/>
          <p:cNvSpPr/>
          <p:nvPr/>
        </p:nvSpPr>
        <p:spPr>
          <a:xfrm>
            <a:off x="10158984" y="1783080"/>
            <a:ext cx="13898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108960"/>
            <a:ext cx="128016" cy="128016"/>
          </a:xfrm>
          <a:prstGeom prst="rect">
            <a:avLst/>
          </a:prstGeom>
          <a:ln w="15875">
            <a:solidFill>
              <a:srgbClr val="0B4F6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008376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25,409 trainable parameters — GlobalAveragePooling2D avoids a memorization trap on this small dataset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657600"/>
            <a:ext cx="128016" cy="128016"/>
          </a:xfrm>
          <a:prstGeom prst="rect">
            <a:avLst/>
          </a:prstGeom>
          <a:ln w="15875">
            <a:solidFill>
              <a:srgbClr val="0B4F6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557016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optimizer, binary cross-entropy loss, monitored on validation recall (not accuracy)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128016" cy="128016"/>
          </a:xfrm>
          <a:prstGeom prst="rect">
            <a:avLst/>
          </a:prstGeom>
          <a:ln w="15875">
            <a:solidFill>
              <a:srgbClr val="0B4F6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105656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EarlyStopping and ReduceLROnPlateau guard against overfitting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074920"/>
            <a:ext cx="11247120" cy="1280160"/>
          </a:xfrm>
          <a:prstGeom prst="roundRect">
            <a:avLst>
              <a:gd name="adj" fmla="val 5714"/>
            </a:avLst>
          </a:prstGeom>
          <a:solidFill>
            <a:srgbClr val="0B4F6C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516636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0.502</a:t>
            </a:r>
            <a:endParaRPr lang="en-US" sz="3400" dirty="0"/>
          </a:p>
        </p:txBody>
      </p:sp>
      <p:sp>
        <p:nvSpPr>
          <p:cNvPr id="26" name="Shape 24"/>
          <p:cNvSpPr/>
          <p:nvPr/>
        </p:nvSpPr>
        <p:spPr>
          <a:xfrm>
            <a:off x="3017520" y="5257800"/>
            <a:ext cx="128016" cy="128016"/>
          </a:xfrm>
          <a:prstGeom prst="rect">
            <a:avLst/>
          </a:prstGeom>
          <a:ln w="15875">
            <a:solidFill>
              <a:srgbClr val="F4A2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515721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ROC AUC — essentially random-chance performance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017520" y="5760720"/>
            <a:ext cx="128016" cy="128016"/>
          </a:xfrm>
          <a:prstGeom prst="rect">
            <a:avLst/>
          </a:prstGeom>
          <a:ln w="15875">
            <a:solidFill>
              <a:srgbClr val="F4A2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91840" y="56601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a simple CNN cannot extract meaningful stroke geometry from this dataset, justifying the pivot to transfer learning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Dysgraphia Screening  •  CRISP-DM Walkthrough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 — Transfer Learning (MobileNetV2)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Reusing a pretrained backbone's visual pattern recognition, adapted to our pipeline.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128016" cy="128016"/>
          </a:xfrm>
          <a:prstGeom prst="rect">
            <a:avLst/>
          </a:prstGeom>
          <a:ln w="15875">
            <a:solidFill>
              <a:srgbClr val="0B4F6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73936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Backbone: MobileNetV2, pretrained on ImageNet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651760"/>
            <a:ext cx="128016" cy="128016"/>
          </a:xfrm>
          <a:prstGeom prst="rect">
            <a:avLst/>
          </a:prstGeom>
          <a:ln w="15875">
            <a:solidFill>
              <a:srgbClr val="0B4F6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551176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256×256 images resized to 224×224 and stacked into fake RGB, in-graph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128016" cy="128016"/>
          </a:xfrm>
          <a:prstGeom prst="rect">
            <a:avLst/>
          </a:prstGeom>
          <a:ln w="15875">
            <a:solidFill>
              <a:srgbClr val="0B4F6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328416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classification head: Dense(64) with dropout on both sides to resist memorization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783080"/>
            <a:ext cx="5440680" cy="4206240"/>
          </a:xfrm>
          <a:prstGeom prst="roundRect">
            <a:avLst>
              <a:gd name="adj" fmla="val 1739"/>
            </a:avLst>
          </a:prstGeom>
          <a:solidFill>
            <a:srgbClr val="0B4F6C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9659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Fine-Tuning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37960" y="2468880"/>
            <a:ext cx="4892040" cy="1417320"/>
          </a:xfrm>
          <a:prstGeom prst="roundRect">
            <a:avLst>
              <a:gd name="adj" fmla="val 3871"/>
            </a:avLst>
          </a:prstGeom>
          <a:solidFill>
            <a:srgbClr val="0E5F80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26060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Frozen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766560" y="297180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base_model.trainable = False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Train only the new head, up to 20 epochs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537960" y="4023360"/>
            <a:ext cx="4892040" cy="1783080"/>
          </a:xfrm>
          <a:prstGeom prst="roundRect">
            <a:avLst>
              <a:gd name="adj" fmla="val 3077"/>
            </a:avLst>
          </a:prstGeom>
          <a:solidFill>
            <a:srgbClr val="0E5F80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41605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Partial Unfreeze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766560" y="452628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 30 layers unfrozen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Learning rate divided by 100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Fine-tuned for 40 epochs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507492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507492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validation recall rose from 0.205 to 0.767, and ROC AUC from 0.502 to 0.80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Dysgraphia Screening  •  CRISP-DM Walkthrough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 — Hyperparameter Search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small, targeted grid search, guided by validation recall — not accuracy.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554480" cy="475488"/>
          </a:xfrm>
          <a:prstGeom prst="rect">
            <a:avLst/>
          </a:prstGeom>
          <a:solidFill>
            <a:srgbClr val="0B4F6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0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11680" y="1828800"/>
            <a:ext cx="1965960" cy="475488"/>
          </a:xfrm>
          <a:prstGeom prst="rect">
            <a:avLst/>
          </a:prstGeom>
          <a:solidFill>
            <a:srgbClr val="0B4F6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0" y="1828800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977640" y="1828800"/>
            <a:ext cx="1463040" cy="475488"/>
          </a:xfrm>
          <a:prstGeom prst="rect">
            <a:avLst/>
          </a:prstGeom>
          <a:solidFill>
            <a:srgbClr val="0B4F6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77640" y="182880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40680" y="1828800"/>
            <a:ext cx="1600200" cy="475488"/>
          </a:xfrm>
          <a:prstGeom prst="rect">
            <a:avLst/>
          </a:prstGeom>
          <a:solidFill>
            <a:srgbClr val="0B4F6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40680" y="1828800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040880" y="1828800"/>
            <a:ext cx="1737360" cy="475488"/>
          </a:xfrm>
          <a:prstGeom prst="rect">
            <a:avLst/>
          </a:prstGeom>
          <a:solidFill>
            <a:srgbClr val="0B4F6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0" y="182880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Unfreeze (N)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304288"/>
            <a:ext cx="1554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304288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011680" y="2304288"/>
            <a:ext cx="19659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11680" y="2304288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1e-3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977640" y="2304288"/>
            <a:ext cx="14630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77640" y="2304288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40680" y="2304288"/>
            <a:ext cx="16002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40680" y="2304288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040880" y="2304288"/>
            <a:ext cx="1737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2304288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2779776"/>
            <a:ext cx="1554480" cy="475488"/>
          </a:xfrm>
          <a:prstGeom prst="rect">
            <a:avLst/>
          </a:prstGeom>
          <a:solidFill>
            <a:srgbClr val="FDEBD3"/>
          </a:solidFill>
          <a:ln w="6350">
            <a:solidFill>
              <a:srgbClr val="DCE6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779776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011680" y="2779776"/>
            <a:ext cx="1965960" cy="475488"/>
          </a:xfrm>
          <a:prstGeom prst="rect">
            <a:avLst/>
          </a:prstGeom>
          <a:solidFill>
            <a:srgbClr val="FDEBD3"/>
          </a:solidFill>
          <a:ln w="6350">
            <a:solidFill>
              <a:srgbClr val="DCE6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11680" y="2779776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1e-3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977640" y="2779776"/>
            <a:ext cx="1463040" cy="475488"/>
          </a:xfrm>
          <a:prstGeom prst="rect">
            <a:avLst/>
          </a:prstGeom>
          <a:solidFill>
            <a:srgbClr val="FDEBD3"/>
          </a:solidFill>
          <a:ln w="6350">
            <a:solidFill>
              <a:srgbClr val="DCE6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77640" y="2779776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40680" y="2779776"/>
            <a:ext cx="1600200" cy="475488"/>
          </a:xfrm>
          <a:prstGeom prst="rect">
            <a:avLst/>
          </a:prstGeom>
          <a:solidFill>
            <a:srgbClr val="FDEBD3"/>
          </a:solidFill>
          <a:ln w="6350">
            <a:solidFill>
              <a:srgbClr val="DCE6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40680" y="2779776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040880" y="2779776"/>
            <a:ext cx="1737360" cy="475488"/>
          </a:xfrm>
          <a:prstGeom prst="rect">
            <a:avLst/>
          </a:prstGeom>
          <a:solidFill>
            <a:srgbClr val="FDEBD3"/>
          </a:solidFill>
          <a:ln w="6350">
            <a:solidFill>
              <a:srgbClr val="DCE6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40880" y="2779776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3255264"/>
            <a:ext cx="1554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255264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011680" y="3255264"/>
            <a:ext cx="19659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11680" y="3255264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1e-4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977640" y="3255264"/>
            <a:ext cx="14630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77640" y="3255264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40680" y="3255264"/>
            <a:ext cx="16002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40680" y="3255264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040880" y="3255264"/>
            <a:ext cx="1737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40880" y="3255264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57200" y="3730752"/>
            <a:ext cx="1554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3730752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011680" y="3730752"/>
            <a:ext cx="19659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011680" y="3730752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1e-4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977640" y="3730752"/>
            <a:ext cx="14630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77640" y="3730752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440680" y="3730752"/>
            <a:ext cx="16002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40680" y="3730752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040880" y="3730752"/>
            <a:ext cx="1737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40880" y="3730752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457200" y="429768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Candidate B: best by validation recall (F1 tie-break)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9052560" y="182880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7FAFC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235440" y="1965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Space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9281160" y="2423160"/>
            <a:ext cx="128016" cy="128016"/>
          </a:xfrm>
          <a:prstGeom prst="rect">
            <a:avLst/>
          </a:prstGeom>
          <a:ln w="15875">
            <a:solidFill>
              <a:srgbClr val="0B4F6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555480" y="2322576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rate: 1e-3, 1e-4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9281160" y="2926080"/>
            <a:ext cx="128016" cy="128016"/>
          </a:xfrm>
          <a:prstGeom prst="rect">
            <a:avLst/>
          </a:prstGeom>
          <a:ln w="15875">
            <a:solidFill>
              <a:srgbClr val="0B4F6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555480" y="2825496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Dropout: 0.3, 0.5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9281160" y="3429000"/>
            <a:ext cx="128016" cy="128016"/>
          </a:xfrm>
          <a:prstGeom prst="rect">
            <a:avLst/>
          </a:prstGeom>
          <a:ln w="15875">
            <a:solidFill>
              <a:srgbClr val="0B4F6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555480" y="3328416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size: 8, 16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9281160" y="3931920"/>
            <a:ext cx="128016" cy="128016"/>
          </a:xfrm>
          <a:prstGeom prst="rect">
            <a:avLst/>
          </a:prstGeom>
          <a:ln w="15875">
            <a:solidFill>
              <a:srgbClr val="0B4F6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555480" y="3831336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Unfreeze depth: 20–50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457200" y="5166360"/>
            <a:ext cx="128016" cy="128016"/>
          </a:xfrm>
          <a:prstGeom prst="rect">
            <a:avLst/>
          </a:prstGeom>
          <a:ln w="15875">
            <a:solidFill>
              <a:srgbClr val="0B4F6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31520" y="5065776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candidate trained for a short, fixed number of epochs to rank configurations before committing full training time to the winner</a:t>
            </a:r>
            <a:endParaRPr lang="en-US" sz="1250" dirty="0"/>
          </a:p>
        </p:txBody>
      </p:sp>
      <p:sp>
        <p:nvSpPr>
          <p:cNvPr id="67" name="Text 6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Dysgraphia Screening  •  CRISP-DM Walkthrough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— Calibration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decision threshold couldn't stay at a naive 0.5.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128016" cy="128016"/>
          </a:xfrm>
          <a:prstGeom prst="rect">
            <a:avLst/>
          </a:prstGeom>
          <a:ln w="15875">
            <a:solidFill>
              <a:srgbClr val="0B4F6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73936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purely for recall caused the model to over-flag — nearly 99% of samples marked dysgraphic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2788920"/>
            <a:ext cx="128016" cy="128016"/>
          </a:xfrm>
          <a:prstGeom prst="rect">
            <a:avLst/>
          </a:prstGeom>
          <a:ln w="15875">
            <a:solidFill>
              <a:srgbClr val="0B4F6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688336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Youden's J statistic (TPR − FPR) was used to calibrate the decision threshold instead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3703320"/>
            <a:ext cx="128016" cy="128016"/>
          </a:xfrm>
          <a:prstGeom prst="rect">
            <a:avLst/>
          </a:prstGeom>
          <a:ln w="15875">
            <a:solidFill>
              <a:srgbClr val="0B4F6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602736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balances the true positive rate against the false positive rate — respecting healthy cases, not just chasing recall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766560" y="2011680"/>
            <a:ext cx="4937760" cy="3108960"/>
          </a:xfrm>
          <a:prstGeom prst="roundRect">
            <a:avLst>
              <a:gd name="adj" fmla="val 2353"/>
            </a:avLst>
          </a:prstGeom>
          <a:solidFill>
            <a:srgbClr val="0B4F6C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0" y="228600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Youden's J = TPR − FPR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040880" y="3200400"/>
            <a:ext cx="438912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0" y="34290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calibrated threshold: 0.549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040880" y="38404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(vs. the naive default of 0.5)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Dysgraphia Screening  •  CRISP-DM Walkthrough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— Baseline vs. Transfer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calibration and transfer learning moved the needle on validation data.</a:t>
            </a:r>
            <a:endParaRPr lang="en-US" sz="135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1280160" y="1783080"/>
          <a:ext cx="96012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Dysgraphia Screening  •  CRISP-DM Walkthrough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4F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— The Final, Honest Judgment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calibrated MobileNetV2 model, tested once against the untouched 20% test split (325 images).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2651760" cy="2148840"/>
          </a:xfrm>
          <a:prstGeom prst="roundRect">
            <a:avLst>
              <a:gd name="adj" fmla="val 3830"/>
            </a:avLst>
          </a:prstGeom>
          <a:solidFill>
            <a:srgbClr val="0E5F8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0.797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AUC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227832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 arches strongly toward top-left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73552" y="1783080"/>
            <a:ext cx="2651760" cy="2148840"/>
          </a:xfrm>
          <a:prstGeom prst="roundRect">
            <a:avLst>
              <a:gd name="adj" fmla="val 3830"/>
            </a:avLst>
          </a:prstGeom>
          <a:solidFill>
            <a:srgbClr val="0E5F80"/>
          </a:solidFill>
          <a:ln/>
        </p:spPr>
      </p:sp>
      <p:sp>
        <p:nvSpPr>
          <p:cNvPr id="9" name="Text 7"/>
          <p:cNvSpPr/>
          <p:nvPr/>
        </p:nvSpPr>
        <p:spPr>
          <a:xfrm>
            <a:off x="3456432" y="201168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456432" y="2880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Recall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56432" y="3227832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Potential Dysgraphia cases caught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9904" y="1783080"/>
            <a:ext cx="2651760" cy="2148840"/>
          </a:xfrm>
          <a:prstGeom prst="roundRect">
            <a:avLst>
              <a:gd name="adj" fmla="val 3830"/>
            </a:avLst>
          </a:prstGeom>
          <a:solidFill>
            <a:srgbClr val="0E5F80"/>
          </a:solidFill>
          <a:ln/>
        </p:spPr>
      </p:sp>
      <p:sp>
        <p:nvSpPr>
          <p:cNvPr id="13" name="Text 11"/>
          <p:cNvSpPr/>
          <p:nvPr/>
        </p:nvSpPr>
        <p:spPr>
          <a:xfrm>
            <a:off x="6272784" y="201168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272784" y="2880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72784" y="3227832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flagged cases were truly at-risk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906256" y="1783080"/>
            <a:ext cx="2651760" cy="2148840"/>
          </a:xfrm>
          <a:prstGeom prst="roundRect">
            <a:avLst>
              <a:gd name="adj" fmla="val 3830"/>
            </a:avLst>
          </a:prstGeom>
          <a:solidFill>
            <a:srgbClr val="0E5F80"/>
          </a:solidFill>
          <a:ln/>
        </p:spPr>
      </p:sp>
      <p:sp>
        <p:nvSpPr>
          <p:cNvPr id="17" name="Text 15"/>
          <p:cNvSpPr/>
          <p:nvPr/>
        </p:nvSpPr>
        <p:spPr>
          <a:xfrm>
            <a:off x="9089136" y="201168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7FD8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73%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9089136" y="2880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Recall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089136" y="3227832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Low Potential cases correctly cleared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160520"/>
            <a:ext cx="11247120" cy="2011680"/>
          </a:xfrm>
          <a:prstGeom prst="roundRect">
            <a:avLst>
              <a:gd name="adj" fmla="val 3636"/>
            </a:avLst>
          </a:prstGeom>
          <a:solidFill>
            <a:srgbClr val="083A5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34340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Result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77240" y="4754880"/>
            <a:ext cx="128016" cy="128016"/>
          </a:xfrm>
          <a:prstGeom prst="rect">
            <a:avLst/>
          </a:prstGeom>
          <a:ln w="15875">
            <a:solidFill>
              <a:srgbClr val="F4A2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4654296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roughly 4 in 5 at-risk students on completely unseen data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77240" y="5212080"/>
            <a:ext cx="128016" cy="128016"/>
          </a:xfrm>
          <a:prstGeom prst="rect">
            <a:avLst/>
          </a:prstGeom>
          <a:ln w="15875">
            <a:solidFill>
              <a:srgbClr val="F4A2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1560" y="5111496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correctly clears about 3 in 4 healthy students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77240" y="5669280"/>
            <a:ext cx="128016" cy="128016"/>
          </a:xfrm>
          <a:prstGeom prst="rect">
            <a:avLst/>
          </a:prstGeom>
          <a:ln w="15875">
            <a:solidFill>
              <a:srgbClr val="F4A2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1560" y="5568696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as a balanced screening tool, not an automated panic button that flags everyone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Dysgraphia Screening  •  CRISP-DM Walkthrough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project goes from here.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7FAFC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0574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icons/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7" y="2123237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039112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 Check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463040" y="2496312"/>
            <a:ext cx="4160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Grad-CAM++ to visually confirm the model focuses on letter shape and baseline deviation, not scanner artifacts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178308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7FAFC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20574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8077" y="2123237"/>
            <a:ext cx="416966" cy="41696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039112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Dataset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7223760" y="2496312"/>
            <a:ext cx="4160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beyond 1,625 images to improve generalization across handwriting styles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402336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7FAFC"/>
          </a:solidFill>
          <a:ln/>
        </p:spPr>
      </p:sp>
      <p:sp>
        <p:nvSpPr>
          <p:cNvPr id="15" name="Shape 11"/>
          <p:cNvSpPr/>
          <p:nvPr/>
        </p:nvSpPr>
        <p:spPr>
          <a:xfrm>
            <a:off x="731520" y="42976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/home/claude/icons2/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357" y="4363517"/>
            <a:ext cx="416966" cy="41696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4279392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Pilot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463040" y="4736592"/>
            <a:ext cx="4160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the tool in an actual classroom setting and gather teacher feedback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17920" y="402336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7FAFC"/>
          </a:solidFill>
          <a:ln/>
        </p:spPr>
      </p:sp>
      <p:sp>
        <p:nvSpPr>
          <p:cNvPr id="20" name="Shape 15"/>
          <p:cNvSpPr/>
          <p:nvPr/>
        </p:nvSpPr>
        <p:spPr>
          <a:xfrm>
            <a:off x="6492240" y="42976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/home/claude/icons/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8077" y="4363517"/>
            <a:ext cx="416966" cy="41696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4279392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Scoring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223760" y="4736592"/>
            <a:ext cx="4160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multi-class severity output instead of a single binary flag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Dysgraphia Screening  •  CRISP-DM Walkthrough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responsibly put this tool to use.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128016" cy="128016"/>
          </a:xfrm>
          <a:prstGeom prst="rect">
            <a:avLst/>
          </a:prstGeom>
          <a:ln w="15875">
            <a:solidFill>
              <a:srgbClr val="0B4F6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728216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a lightweight add-on to existing classroom or clinic workflows — not a standalone system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606040"/>
            <a:ext cx="128016" cy="128016"/>
          </a:xfrm>
          <a:prstGeom prst="rect">
            <a:avLst/>
          </a:prstGeom>
          <a:ln w="15875">
            <a:solidFill>
              <a:srgbClr val="0B4F6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505456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pair model output with human review — never let the model auto-diagnose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3383280"/>
            <a:ext cx="128016" cy="128016"/>
          </a:xfrm>
          <a:prstGeom prst="rect">
            <a:avLst/>
          </a:prstGeom>
          <a:ln w="15875">
            <a:solidFill>
              <a:srgbClr val="0B4F6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3282696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occupational therapists and specialists to validate flagged cases before wider rollout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4160520"/>
            <a:ext cx="128016" cy="128016"/>
          </a:xfrm>
          <a:prstGeom prst="rect">
            <a:avLst/>
          </a:prstGeom>
          <a:ln w="15875">
            <a:solidFill>
              <a:srgbClr val="0B4F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4059936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Re-calibrate the decision threshold periodically as more labeled data becomes available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4937760"/>
            <a:ext cx="128016" cy="128016"/>
          </a:xfrm>
          <a:prstGeom prst="rect">
            <a:avLst/>
          </a:prstGeom>
          <a:ln w="15875">
            <a:solidFill>
              <a:srgbClr val="0B4F6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4837176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for demographic or handwriting-style bias before expanding beyond the pilot group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Dysgraphia Screening  •  CRISP-DM Walkthrough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4F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737360"/>
            <a:ext cx="128016" cy="128016"/>
          </a:xfrm>
          <a:prstGeom prst="rect">
            <a:avLst/>
          </a:prstGeom>
          <a:ln w="15875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636776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baseline CNN (0.502 AUC) proved the task needed richer features than a from-scratch model could learn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560320"/>
            <a:ext cx="128016" cy="128016"/>
          </a:xfrm>
          <a:prstGeom prst="rect">
            <a:avLst/>
          </a:prstGeom>
          <a:ln w="15875">
            <a:solidFill>
              <a:srgbClr val="F4A2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459736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and threshold calibration together delivered a balanced, deployable screening tool (0.797 test AUC)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3383280"/>
            <a:ext cx="128016" cy="128016"/>
          </a:xfrm>
          <a:prstGeom prst="rect">
            <a:avLst/>
          </a:prstGeom>
          <a:ln w="15875">
            <a:solidFill>
              <a:srgbClr val="F4A2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3282696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Recall-first evaluation reflects the real cost of a missed at-risk student — the metric was chosen to match the mission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77240" y="4206240"/>
            <a:ext cx="128016" cy="128016"/>
          </a:xfrm>
          <a:prstGeom prst="rect">
            <a:avLst/>
          </a:prstGeom>
          <a:ln w="15875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4105656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built to flag, not diagnose — human judgment remains central to every decision it supports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77240" y="5029200"/>
            <a:ext cx="128016" cy="128016"/>
          </a:xfrm>
          <a:prstGeom prst="rect">
            <a:avLst/>
          </a:prstGeom>
          <a:ln w="15875">
            <a:solidFill>
              <a:srgbClr val="F4A2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4928616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CRISP-DM structure kept the project grounded in the original business goal from start to finish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Dysgraphia Screening  •  CRISP-DM Walkthrough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4F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083A50"/>
          </a:solidFill>
          <a:ln/>
        </p:spPr>
      </p:sp>
      <p:pic>
        <p:nvPicPr>
          <p:cNvPr id="3" name="Image 0" descr="/home/claude/assets/handwriting_sampl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377440"/>
            <a:ext cx="4480560" cy="206842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269480" y="2331720"/>
            <a:ext cx="4572000" cy="2157984"/>
          </a:xfrm>
          <a:prstGeom prst="roundRect">
            <a:avLst>
              <a:gd name="adj" fmla="val 2542"/>
            </a:avLst>
          </a:prstGeom>
          <a:ln w="25400">
            <a:solidFill>
              <a:srgbClr val="F4A26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2103120"/>
            <a:ext cx="5760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640080" y="306324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3749040"/>
            <a:ext cx="502920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3977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 / Team Name]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42976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[email@example.com]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1431</Words>
  <Application>Microsoft Office PowerPoint</Application>
  <PresentationFormat>Widescreen</PresentationFormat>
  <Paragraphs>235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Lucy Wainoga</cp:lastModifiedBy>
  <cp:revision>2</cp:revision>
  <dcterms:created xsi:type="dcterms:W3CDTF">2026-09-13T20:45:21Z</dcterms:created>
  <dcterms:modified xsi:type="dcterms:W3CDTF">2026-09-13T21:36:49Z</dcterms:modified>
</cp:coreProperties>
</file>